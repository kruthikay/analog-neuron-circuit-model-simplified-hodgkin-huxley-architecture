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notesMasterIdLst>
    <p:notesMasterId r:id="rId29"/>
  </p:notesMasterIdLst>
  <p:sldIdLst>
    <p:sldId id="256" r:id="rId2"/>
    <p:sldId id="266" r:id="rId3"/>
    <p:sldId id="257" r:id="rId4"/>
    <p:sldId id="258" r:id="rId5"/>
    <p:sldId id="269" r:id="rId6"/>
    <p:sldId id="290" r:id="rId7"/>
    <p:sldId id="282" r:id="rId8"/>
    <p:sldId id="270" r:id="rId9"/>
    <p:sldId id="260" r:id="rId10"/>
    <p:sldId id="271" r:id="rId11"/>
    <p:sldId id="272" r:id="rId12"/>
    <p:sldId id="273" r:id="rId13"/>
    <p:sldId id="261" r:id="rId14"/>
    <p:sldId id="274" r:id="rId15"/>
    <p:sldId id="262" r:id="rId16"/>
    <p:sldId id="277" r:id="rId17"/>
    <p:sldId id="275" r:id="rId18"/>
    <p:sldId id="276" r:id="rId19"/>
    <p:sldId id="280" r:id="rId20"/>
    <p:sldId id="281" r:id="rId21"/>
    <p:sldId id="283" r:id="rId22"/>
    <p:sldId id="285" r:id="rId23"/>
    <p:sldId id="263" r:id="rId24"/>
    <p:sldId id="288" r:id="rId25"/>
    <p:sldId id="289" r:id="rId26"/>
    <p:sldId id="287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30"/>
    <p:restoredTop sz="94679"/>
  </p:normalViewPr>
  <p:slideViewPr>
    <p:cSldViewPr snapToGrid="0" snapToObjects="1">
      <p:cViewPr>
        <p:scale>
          <a:sx n="93" d="100"/>
          <a:sy n="93" d="100"/>
        </p:scale>
        <p:origin x="464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D8985-F113-2146-9746-DC7D0850890D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877C-D44A-EB4C-9CAE-ADD2EB3EF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0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877C-D44A-EB4C-9CAE-ADD2EB3EFC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1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7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4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2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3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3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4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2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0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6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8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Transmission Line Circuit for Simplified Hodgkin-Huxley Neuron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CA014-38F1-1E94-D8D3-34997725409B}"/>
              </a:ext>
            </a:extLst>
          </p:cNvPr>
          <p:cNvSpPr txBox="1"/>
          <p:nvPr/>
        </p:nvSpPr>
        <p:spPr>
          <a:xfrm>
            <a:off x="768520" y="4579809"/>
            <a:ext cx="567033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  </a:t>
            </a:r>
            <a:r>
              <a:rPr lang="en-US" sz="2000" dirty="0">
                <a:solidFill>
                  <a:schemeClr val="bg1"/>
                </a:solidFill>
              </a:rPr>
              <a:t>Kruthika Yogeesh Gowda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MSc Electronics, University of Southampton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Supervisor:  </a:t>
            </a:r>
            <a:r>
              <a:rPr lang="en-US" sz="2000" dirty="0">
                <a:solidFill>
                  <a:schemeClr val="bg1"/>
                </a:solidFill>
              </a:rPr>
              <a:t>Dr. Harold Chong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EC7F4-BA3C-F55C-362D-A2C6940522CC}"/>
              </a:ext>
            </a:extLst>
          </p:cNvPr>
          <p:cNvSpPr txBox="1"/>
          <p:nvPr/>
        </p:nvSpPr>
        <p:spPr>
          <a:xfrm>
            <a:off x="581192" y="3560582"/>
            <a:ext cx="7989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MSc Dissertation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B1C2-F82B-10A1-F930-94DD51DC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B94A-9F08-D9A1-6FFD-65D03AF0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404A-1027-10DF-CFB0-7F813B2B1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" y="1903752"/>
            <a:ext cx="9133115" cy="495424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100" b="1" dirty="0">
                <a:solidFill>
                  <a:schemeClr val="tx1"/>
                </a:solidFill>
              </a:rPr>
              <a:t>Biological relevance:</a:t>
            </a:r>
          </a:p>
          <a:p>
            <a:pPr marL="0" indent="0">
              <a:buNone/>
            </a:pPr>
            <a:r>
              <a:rPr lang="en-US" altLang="en-US" sz="2100" b="1" dirty="0">
                <a:solidFill>
                  <a:schemeClr val="tx1"/>
                </a:solidFill>
              </a:rPr>
              <a:t>     </a:t>
            </a:r>
            <a:r>
              <a:rPr lang="en-US" altLang="en-US" sz="2100" dirty="0">
                <a:solidFill>
                  <a:schemeClr val="tx1"/>
                </a:solidFill>
              </a:rPr>
              <a:t>Neurons perform three vital functions - dendrites filter inputs, the soma generates            spikes, and axons transmit signals with timing precision.</a:t>
            </a:r>
          </a:p>
          <a:p>
            <a:pPr marL="0" indent="0"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2100" b="1" dirty="0">
                <a:solidFill>
                  <a:schemeClr val="tx1"/>
                </a:solidFill>
              </a:rPr>
              <a:t>Existing models:</a:t>
            </a:r>
            <a:endParaRPr lang="en-US" altLang="en-US" sz="21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0" dirty="0">
                <a:solidFill>
                  <a:schemeClr val="tx1"/>
                </a:solidFill>
              </a:rPr>
              <a:t>     - Hodgkin - Huxley </a:t>
            </a:r>
            <a:r>
              <a:rPr lang="en-IN" sz="2400" dirty="0">
                <a:solidFill>
                  <a:schemeClr val="tx1"/>
                </a:solidFill>
              </a:rPr>
              <a:t>→</a:t>
            </a:r>
            <a:r>
              <a:rPr lang="en-US" altLang="en-US" sz="2100" dirty="0">
                <a:solidFill>
                  <a:schemeClr val="tx1"/>
                </a:solidFill>
              </a:rPr>
              <a:t> highly accurate but too complex for hardware or real-time use.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0" dirty="0">
                <a:solidFill>
                  <a:schemeClr val="tx1"/>
                </a:solidFill>
              </a:rPr>
              <a:t>     - </a:t>
            </a:r>
            <a:r>
              <a:rPr lang="en-US" altLang="en-US" sz="2100" dirty="0" err="1">
                <a:solidFill>
                  <a:schemeClr val="tx1"/>
                </a:solidFill>
              </a:rPr>
              <a:t>Memristive</a:t>
            </a:r>
            <a:r>
              <a:rPr lang="en-US" altLang="en-US" sz="2100" dirty="0">
                <a:solidFill>
                  <a:schemeClr val="tx1"/>
                </a:solidFill>
              </a:rPr>
              <a:t> circuits </a:t>
            </a:r>
            <a:r>
              <a:rPr lang="en-IN" sz="2000" dirty="0">
                <a:solidFill>
                  <a:schemeClr val="tx1"/>
                </a:solidFill>
              </a:rPr>
              <a:t>→</a:t>
            </a:r>
            <a:r>
              <a:rPr lang="en-US" altLang="en-US" sz="2100" dirty="0">
                <a:solidFill>
                  <a:schemeClr val="tx1"/>
                </a:solidFill>
              </a:rPr>
              <a:t> promising but experimental, costly and hard to reproduce.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200" dirty="0"/>
          </a:p>
          <a:p>
            <a:r>
              <a:rPr lang="en-US" altLang="en-US" sz="2100" b="1" dirty="0">
                <a:solidFill>
                  <a:schemeClr val="tx1"/>
                </a:solidFill>
              </a:rPr>
              <a:t>Identified gap: </a:t>
            </a:r>
          </a:p>
          <a:p>
            <a:pPr marL="0" indent="0">
              <a:buNone/>
            </a:pPr>
            <a:r>
              <a:rPr lang="en-IN" sz="2100" dirty="0"/>
              <a:t>    No simple </a:t>
            </a:r>
            <a:r>
              <a:rPr lang="en-IN" sz="2100" dirty="0" err="1"/>
              <a:t>analog</a:t>
            </a:r>
            <a:r>
              <a:rPr lang="en-IN" sz="2100" dirty="0"/>
              <a:t> model showing dendritic filtering, spiking, and transmission within biological ranges.</a:t>
            </a:r>
          </a:p>
          <a:p>
            <a:pPr marL="0" indent="0"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2100" b="1" dirty="0">
                <a:solidFill>
                  <a:schemeClr val="tx1"/>
                </a:solidFill>
              </a:rPr>
              <a:t>Long-term vision: </a:t>
            </a:r>
          </a:p>
          <a:p>
            <a:pPr marL="0" indent="0">
              <a:buNone/>
            </a:pPr>
            <a:r>
              <a:rPr lang="en-IN" sz="2100" dirty="0"/>
              <a:t>    To lay the foundation for simple, low-power neuromorphic hardware that can support biomedical applications and future brain-inspired computing.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4137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Aim and Objectives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14" y="1865915"/>
            <a:ext cx="8272211" cy="4992085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Aim: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dirty="0"/>
            </a:br>
            <a:r>
              <a:rPr lang="en-IN" dirty="0"/>
              <a:t>     To design a simple </a:t>
            </a:r>
            <a:r>
              <a:rPr lang="en-IN" dirty="0" err="1"/>
              <a:t>analog</a:t>
            </a:r>
            <a:r>
              <a:rPr lang="en-IN" dirty="0"/>
              <a:t> circuit model of a neuron that demonstrates dendritic filtering, soma spiking, and axonal transmission, and compare its behaviour with biological ranges.</a:t>
            </a:r>
          </a:p>
          <a:p>
            <a:pPr marL="0" indent="0">
              <a:buNone/>
            </a:pPr>
            <a:endParaRPr lang="en-IN" sz="1300" b="1" dirty="0"/>
          </a:p>
          <a:p>
            <a:pPr marL="0" indent="0">
              <a:buNone/>
            </a:pPr>
            <a:endParaRPr lang="en-IN" sz="1300" b="1" dirty="0"/>
          </a:p>
          <a:p>
            <a:r>
              <a:rPr lang="en-IN" b="1" dirty="0"/>
              <a:t>Objectives: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Build RC and comparator-based circuits for dendrite, soma, and axon stages.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Apply different biological and test input signals (EEG, HH spike, PQRST, multi-sine).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Validate performance using quantitative metrics (spike width, jitter, RMSE, SNR, gain error, phase lag).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Compare results with known biological data to assess realism.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Highlight limitations and propose future improvements for neuromorphic applications.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Tools and Simulation Setup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4" y="2180496"/>
            <a:ext cx="8272211" cy="367830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Multisim</a:t>
            </a:r>
            <a:r>
              <a:rPr lang="en-IN" dirty="0"/>
              <a:t> – Chosen for its ease of </a:t>
            </a:r>
            <a:r>
              <a:rPr lang="en-IN" dirty="0" err="1"/>
              <a:t>analog</a:t>
            </a:r>
            <a:r>
              <a:rPr lang="en-IN" dirty="0"/>
              <a:t> circuit simulation, component availability, and real-time probe visualization.</a:t>
            </a:r>
            <a:br>
              <a:rPr lang="en-IN" dirty="0"/>
            </a:br>
            <a:r>
              <a:rPr lang="en-IN" dirty="0"/>
              <a:t>→ Enabled full hardware-level testing of neuron-like circuits.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→ Used for circuit design and oscilloscope outputs.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MATLAB</a:t>
            </a:r>
            <a:r>
              <a:rPr lang="en-IN" dirty="0"/>
              <a:t> – Used for generating complex input signals.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→ Used for FFT, Bode plots, jitter, RMSE, and cross-validation of results.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All signal paths tested in simulation, with block-wise validation and final output comparison.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9FBA5-8DA4-2C02-E492-0A08542B1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61" y="2913393"/>
            <a:ext cx="3726367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BLOCK DIAGRAM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8B1D17DF-F33C-D8E9-9E62-45685209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98" t="26579" r="40701" b="26058"/>
          <a:stretch>
            <a:fillRect/>
          </a:stretch>
        </p:blipFill>
        <p:spPr>
          <a:xfrm>
            <a:off x="4926043" y="960723"/>
            <a:ext cx="3564396" cy="494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11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6BD34-E87E-C7A7-55E1-A14E31AC92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7" r="3027"/>
          <a:stretch>
            <a:fillRect/>
          </a:stretch>
        </p:blipFill>
        <p:spPr bwMode="auto">
          <a:xfrm>
            <a:off x="0" y="953711"/>
            <a:ext cx="9144001" cy="54599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3057FA-04BB-1F23-9E67-74D630D7E85D}"/>
              </a:ext>
            </a:extLst>
          </p:cNvPr>
          <p:cNvCxnSpPr>
            <a:cxnSpLocks/>
          </p:cNvCxnSpPr>
          <p:nvPr/>
        </p:nvCxnSpPr>
        <p:spPr>
          <a:xfrm>
            <a:off x="4572000" y="4646815"/>
            <a:ext cx="0" cy="565265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66547D-5CB0-7418-9FE8-ED800DCB7447}"/>
              </a:ext>
            </a:extLst>
          </p:cNvPr>
          <p:cNvCxnSpPr>
            <a:cxnSpLocks/>
          </p:cNvCxnSpPr>
          <p:nvPr/>
        </p:nvCxnSpPr>
        <p:spPr>
          <a:xfrm>
            <a:off x="5569527" y="4455622"/>
            <a:ext cx="565266" cy="315883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C6E526-640D-3AF4-B097-28DC2DE98BF1}"/>
              </a:ext>
            </a:extLst>
          </p:cNvPr>
          <p:cNvCxnSpPr>
            <a:cxnSpLocks/>
          </p:cNvCxnSpPr>
          <p:nvPr/>
        </p:nvCxnSpPr>
        <p:spPr>
          <a:xfrm flipV="1">
            <a:off x="4696691" y="2252749"/>
            <a:ext cx="590204" cy="1953491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66C00C-E9ED-C312-75F9-37890356CEDF}"/>
              </a:ext>
            </a:extLst>
          </p:cNvPr>
          <p:cNvCxnSpPr>
            <a:cxnSpLocks/>
          </p:cNvCxnSpPr>
          <p:nvPr/>
        </p:nvCxnSpPr>
        <p:spPr>
          <a:xfrm flipV="1">
            <a:off x="5347854" y="2310938"/>
            <a:ext cx="1144386" cy="1632066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7431B80-BBFC-E5E0-51FC-6E45CB6393C1}"/>
              </a:ext>
            </a:extLst>
          </p:cNvPr>
          <p:cNvCxnSpPr>
            <a:cxnSpLocks/>
          </p:cNvCxnSpPr>
          <p:nvPr/>
        </p:nvCxnSpPr>
        <p:spPr>
          <a:xfrm flipV="1">
            <a:off x="5727469" y="2992582"/>
            <a:ext cx="1363287" cy="895004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D3E3E7-F106-2013-4601-E7748F6675C2}"/>
              </a:ext>
            </a:extLst>
          </p:cNvPr>
          <p:cNvCxnSpPr>
            <a:cxnSpLocks/>
          </p:cNvCxnSpPr>
          <p:nvPr/>
        </p:nvCxnSpPr>
        <p:spPr>
          <a:xfrm flipH="1">
            <a:off x="2427316" y="3067396"/>
            <a:ext cx="648392" cy="162098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45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E8972-3504-8A89-EE84-FD97ECCF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B83DA-1D09-039A-3E08-2CBA7584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INPUT SIGNAL DESIGNS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1018-30DD-48D8-8993-067B8337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5" y="2171203"/>
            <a:ext cx="4207476" cy="3650344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</a:rPr>
              <a:t> EEG Input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– Real brain signal from PhysioNet.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–V</a:t>
            </a:r>
            <a:r>
              <a:rPr lang="en-IN" dirty="0"/>
              <a:t>alidates dendritic frequency selectivity.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</a:rPr>
              <a:t>HH Spike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– Action potential from Hodgkin-Huxley model.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– </a:t>
            </a:r>
            <a:r>
              <a:rPr lang="en-IN" dirty="0"/>
              <a:t>Serves as biological action potential reference.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</a:rPr>
              <a:t> PQRST Pulse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 – Synthetic, structured waveform.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 – To t</a:t>
            </a:r>
            <a:r>
              <a:rPr lang="en-IN" dirty="0"/>
              <a:t>est filters with complex biomedical waveform.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</a:rPr>
              <a:t> Sinewave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 – Multi-frequency test input.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</a:rPr>
              <a:t>      – </a:t>
            </a:r>
            <a:r>
              <a:rPr lang="en-IN" dirty="0"/>
              <a:t>Stresses filter with broad frequency content.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FFFFFF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FFFFFF"/>
              </a:solidFill>
            </a:endParaRPr>
          </a:p>
          <a:p>
            <a:r>
              <a:rPr lang="en-IN" dirty="0">
                <a:solidFill>
                  <a:srgbClr val="FFFFFF"/>
                </a:solidFill>
              </a:rPr>
              <a:t>All signals passed through individual dendritic filters.</a:t>
            </a:r>
          </a:p>
          <a:p>
            <a:endParaRPr lang="en-IN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A33AE-AE05-8A21-DC9B-D77A6E07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90"/>
          <a:stretch>
            <a:fillRect/>
          </a:stretch>
        </p:blipFill>
        <p:spPr>
          <a:xfrm>
            <a:off x="5899746" y="817454"/>
            <a:ext cx="941135" cy="540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37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62CB20-C8B7-0C80-A09D-4C7E10A41B42}"/>
              </a:ext>
            </a:extLst>
          </p:cNvPr>
          <p:cNvSpPr txBox="1"/>
          <p:nvPr/>
        </p:nvSpPr>
        <p:spPr>
          <a:xfrm>
            <a:off x="1545470" y="69987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EEG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3FD76-EC96-6075-EA8C-6F7E8D7084A9}"/>
              </a:ext>
            </a:extLst>
          </p:cNvPr>
          <p:cNvSpPr txBox="1"/>
          <p:nvPr/>
        </p:nvSpPr>
        <p:spPr>
          <a:xfrm>
            <a:off x="6673499" y="759543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25E64-753D-A8D4-2292-04992A399D62}"/>
              </a:ext>
            </a:extLst>
          </p:cNvPr>
          <p:cNvSpPr txBox="1"/>
          <p:nvPr/>
        </p:nvSpPr>
        <p:spPr>
          <a:xfrm>
            <a:off x="1434500" y="56041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PQRST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62BC8-40A5-6877-1642-B01FF08D2B55}"/>
              </a:ext>
            </a:extLst>
          </p:cNvPr>
          <p:cNvSpPr txBox="1"/>
          <p:nvPr/>
        </p:nvSpPr>
        <p:spPr>
          <a:xfrm>
            <a:off x="6318509" y="5604130"/>
            <a:ext cx="1027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Sinewave</a:t>
            </a:r>
          </a:p>
        </p:txBody>
      </p:sp>
      <p:pic>
        <p:nvPicPr>
          <p:cNvPr id="10" name="Picture 9" descr="A green sound wave&#10;&#10;AI-generated content may be incorrect.">
            <a:extLst>
              <a:ext uri="{FF2B5EF4-FFF2-40B4-BE49-F238E27FC236}">
                <a16:creationId xmlns:a16="http://schemas.microsoft.com/office/drawing/2014/main" id="{0C091D30-BA8D-6D03-CA50-1D5E404D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2" y="1069204"/>
            <a:ext cx="4382949" cy="209907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" name="Picture 10" descr="A blue line on a white background&#10;&#10;AI-generated content may be incorrect.">
            <a:extLst>
              <a:ext uri="{FF2B5EF4-FFF2-40B4-BE49-F238E27FC236}">
                <a16:creationId xmlns:a16="http://schemas.microsoft.com/office/drawing/2014/main" id="{1DF4A1A8-637B-261E-A145-A77700FA7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069205"/>
            <a:ext cx="4392827" cy="20990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 descr="A sound wave with orange lines&#10;&#10;AI-generated content may be incorrect.">
            <a:extLst>
              <a:ext uri="{FF2B5EF4-FFF2-40B4-BE49-F238E27FC236}">
                <a16:creationId xmlns:a16="http://schemas.microsoft.com/office/drawing/2014/main" id="{44AE0718-C6A5-C2FE-12AB-6E43A049F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5" y="3450947"/>
            <a:ext cx="4392592" cy="2103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 descr="A pink line on a white background&#10;&#10;AI-generated content may be incorrect.">
            <a:extLst>
              <a:ext uri="{FF2B5EF4-FFF2-40B4-BE49-F238E27FC236}">
                <a16:creationId xmlns:a16="http://schemas.microsoft.com/office/drawing/2014/main" id="{3A315ED4-3156-A459-4D00-EFD397642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50947"/>
            <a:ext cx="4392592" cy="20990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783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Dendritic Filtering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540" y="2254102"/>
            <a:ext cx="3710416" cy="3650344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FFFFFF"/>
                </a:solidFill>
              </a:rPr>
              <a:t>Each input signal goes through an RC band-pass filter, simulating dendritic attenuation.</a:t>
            </a:r>
          </a:p>
          <a:p>
            <a:r>
              <a:rPr lang="en-IN" dirty="0">
                <a:solidFill>
                  <a:srgbClr val="FFFFFF"/>
                </a:solidFill>
              </a:rPr>
              <a:t>Filters tuned to preserve 8 -13 Hz (</a:t>
            </a:r>
            <a:r>
              <a:rPr lang="el-GR" dirty="0">
                <a:solidFill>
                  <a:srgbClr val="FFFFFF"/>
                </a:solidFill>
              </a:rPr>
              <a:t>α-</a:t>
            </a:r>
            <a:r>
              <a:rPr lang="en-IN" dirty="0">
                <a:solidFill>
                  <a:srgbClr val="FFFFFF"/>
                </a:solidFill>
              </a:rPr>
              <a:t>band) – specifically around 10Hz, frequency components based on the inputs.</a:t>
            </a:r>
          </a:p>
          <a:p>
            <a:r>
              <a:rPr lang="en-IN" dirty="0">
                <a:solidFill>
                  <a:srgbClr val="FFFFFF"/>
                </a:solidFill>
              </a:rPr>
              <a:t>Outputs are summed before spike generation.</a:t>
            </a:r>
          </a:p>
          <a:p>
            <a:r>
              <a:rPr lang="en-IN" dirty="0">
                <a:solidFill>
                  <a:srgbClr val="FFFFFF"/>
                </a:solidFill>
              </a:rPr>
              <a:t>Purpose: Remove irrelevant frequencies, preserve biologically useful content.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9FE30B40-6869-6C4D-10E7-B5DB3DC225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" t="2783" r="4021" b="1580"/>
          <a:stretch>
            <a:fillRect/>
          </a:stretch>
        </p:blipFill>
        <p:spPr bwMode="auto">
          <a:xfrm>
            <a:off x="4843591" y="960723"/>
            <a:ext cx="4200005" cy="517950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36771D-E15F-A5A6-C67F-F13BC389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681" y="756964"/>
            <a:ext cx="2750919" cy="2297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940FD-382C-6298-BC28-10EDA8D0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039" y="756963"/>
            <a:ext cx="2844603" cy="22970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942929-1785-C5E9-BFB9-4FB52624C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86" y="756964"/>
            <a:ext cx="2750918" cy="2297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A182FE-AE92-DA5F-2F17-54BC07200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038" y="3727174"/>
            <a:ext cx="2897355" cy="2339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39196D-0BFC-95E9-DF3C-94881B407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78" y="3769773"/>
            <a:ext cx="2767683" cy="2297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70446F-290F-5C6C-1D40-6AF22C6DBC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389" y="3769773"/>
            <a:ext cx="2750920" cy="22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6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054D1E-46D3-DB4A-5FEE-52F8859D8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0" y="761723"/>
            <a:ext cx="2872023" cy="2398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E264EE-EBD6-715A-F6D9-D0F8A14D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61" y="761724"/>
            <a:ext cx="2820472" cy="23989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85E23-5EB2-3963-AC4D-86CE37F87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01" y="3832632"/>
            <a:ext cx="2855326" cy="2398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7C720-7DDB-135B-BD81-1BC938BE2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260" y="3832632"/>
            <a:ext cx="2820473" cy="2398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0CA4BF-DB28-D3D9-3CBE-2C1854262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6663" y="761723"/>
            <a:ext cx="2784952" cy="2398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3C3FA-320B-2AAD-E503-5199E21B65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794" y="3832632"/>
            <a:ext cx="2784950" cy="23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4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A49BE1-CE11-0E67-4B13-618ED1405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3" y="3969364"/>
            <a:ext cx="2908491" cy="24014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2200FC-04E7-AC28-A3C7-A4CBACAD7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36" y="3969363"/>
            <a:ext cx="2908491" cy="2401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32DE7-7E5A-E2CB-B01F-BC86E8263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780" y="3969363"/>
            <a:ext cx="2787896" cy="24014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278458-F185-5A8B-3C63-580799D8B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14" y="818478"/>
            <a:ext cx="5454536" cy="26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4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2780608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2" y="826346"/>
            <a:ext cx="2378929" cy="1013800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</a:rPr>
              <a:t>Soma Spike Generation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082" y="2052084"/>
            <a:ext cx="2539308" cy="38562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300" dirty="0">
                <a:solidFill>
                  <a:srgbClr val="FFFFFF"/>
                </a:solidFill>
              </a:rPr>
              <a:t>The combined dendritic output is fed into a comparator (LM311N).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rgbClr val="FFFFFF"/>
                </a:solidFill>
              </a:rPr>
              <a:t>Once the input crosses the threshold, a spike is triggered.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rgbClr val="FFFFFF"/>
                </a:solidFill>
              </a:rPr>
              <a:t>A Schmitt trigger is used for noise immunity, preventing false spikes.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rgbClr val="FFFFFF"/>
                </a:solidFill>
              </a:rPr>
              <a:t>This reflects the biological all-or-none principle → spikes occur only above threshold.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rgbClr val="FFFFFF"/>
                </a:solidFill>
              </a:rPr>
              <a:t>The output is a sharp and stable spike, ready to be passed along the axon for transmission.</a:t>
            </a:r>
          </a:p>
          <a:p>
            <a:pPr>
              <a:lnSpc>
                <a:spcPct val="90000"/>
              </a:lnSpc>
            </a:pPr>
            <a:endParaRPr lang="en-IN" sz="1300" dirty="0">
              <a:solidFill>
                <a:srgbClr val="FFFFFF"/>
              </a:solidFill>
            </a:endParaRP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B463EC14-A62A-F136-B625-E781F9F6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22" y="2786970"/>
            <a:ext cx="5883357" cy="163263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3D02B-65A4-1D36-37E3-A2515E01B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9" y="3937555"/>
            <a:ext cx="2801411" cy="24558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29DBBD-15A8-C354-1739-78F5F405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294" y="3937554"/>
            <a:ext cx="2801411" cy="2455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6D0A1E-6CC8-6515-02F0-0E9C3DC5F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3937554"/>
            <a:ext cx="2956077" cy="2455818"/>
          </a:xfrm>
          <a:prstGeom prst="rect">
            <a:avLst/>
          </a:prstGeom>
        </p:spPr>
      </p:pic>
      <p:pic>
        <p:nvPicPr>
          <p:cNvPr id="6" name="Picture 5" descr="A bar code with purple lines&#10;&#10;AI-generated content may be incorrect.">
            <a:extLst>
              <a:ext uri="{FF2B5EF4-FFF2-40B4-BE49-F238E27FC236}">
                <a16:creationId xmlns:a16="http://schemas.microsoft.com/office/drawing/2014/main" id="{69244907-D719-2F2A-9B96-48E0C875E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692" y="590504"/>
            <a:ext cx="6476387" cy="309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02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2780608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2" y="826346"/>
            <a:ext cx="2378929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100" dirty="0">
                <a:solidFill>
                  <a:srgbClr val="FFFFFF"/>
                </a:solidFill>
              </a:rPr>
              <a:t>Axonal Transmission Line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082" y="2052084"/>
            <a:ext cx="2274937" cy="3856229"/>
          </a:xfrm>
        </p:spPr>
        <p:txBody>
          <a:bodyPr anchor="t">
            <a:normAutofit/>
          </a:bodyPr>
          <a:lstStyle/>
          <a:p>
            <a:r>
              <a:rPr lang="en-IN" sz="1400" dirty="0">
                <a:solidFill>
                  <a:srgbClr val="FFFFFF"/>
                </a:solidFill>
              </a:rPr>
              <a:t>9-stage RC circuit simulates axon.</a:t>
            </a:r>
          </a:p>
          <a:p>
            <a:r>
              <a:rPr lang="en-IN" sz="1400" dirty="0">
                <a:solidFill>
                  <a:srgbClr val="FFFFFF"/>
                </a:solidFill>
              </a:rPr>
              <a:t>Amplifiers are inserted after every 3 blocks to restore amplitude.</a:t>
            </a:r>
          </a:p>
          <a:p>
            <a:r>
              <a:rPr lang="en-IN" sz="1400" dirty="0">
                <a:solidFill>
                  <a:srgbClr val="FFFFFF"/>
                </a:solidFill>
              </a:rPr>
              <a:t>RC values tuned to minimize signal distortion.</a:t>
            </a:r>
          </a:p>
          <a:p>
            <a:r>
              <a:rPr lang="en-IN" sz="1400" dirty="0">
                <a:solidFill>
                  <a:srgbClr val="FFFFFF"/>
                </a:solidFill>
              </a:rPr>
              <a:t>Spike shape and frequency are preserved from input to final output.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99DE5E24-A83C-F60F-40FC-81CF783C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641" y="2463398"/>
            <a:ext cx="5592460" cy="209717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DDADD1-C7B3-27F9-9AF7-08BEC2C39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6592"/>
            <a:ext cx="4767009" cy="28041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FF3A5D-2777-9948-B5A9-B320AF6ED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09" y="3856593"/>
            <a:ext cx="4283557" cy="2804122"/>
          </a:xfrm>
          <a:prstGeom prst="rect">
            <a:avLst/>
          </a:prstGeom>
        </p:spPr>
      </p:pic>
      <p:pic>
        <p:nvPicPr>
          <p:cNvPr id="5" name="Picture 4" descr="A barcode with different colored lines&#10;&#10;AI-generated content may be incorrect.">
            <a:extLst>
              <a:ext uri="{FF2B5EF4-FFF2-40B4-BE49-F238E27FC236}">
                <a16:creationId xmlns:a16="http://schemas.microsoft.com/office/drawing/2014/main" id="{EE0B0615-2F72-97EF-4F52-545AA9FE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776" y="533171"/>
            <a:ext cx="6632447" cy="318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59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E62FCD-3791-C5EC-CDA3-1D59A7F07041}"/>
              </a:ext>
            </a:extLst>
          </p:cNvPr>
          <p:cNvSpPr txBox="1"/>
          <p:nvPr/>
        </p:nvSpPr>
        <p:spPr>
          <a:xfrm>
            <a:off x="2568452" y="3244334"/>
            <a:ext cx="1057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L1, L2, L3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8C26B-9BB2-F8CE-3DED-BBF98718B684}"/>
              </a:ext>
            </a:extLst>
          </p:cNvPr>
          <p:cNvSpPr txBox="1"/>
          <p:nvPr/>
        </p:nvSpPr>
        <p:spPr>
          <a:xfrm>
            <a:off x="4905839" y="6488668"/>
            <a:ext cx="1057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L4, L5, L6</a:t>
            </a:r>
          </a:p>
        </p:txBody>
      </p:sp>
      <p:pic>
        <p:nvPicPr>
          <p:cNvPr id="3" name="Picture 2" descr="A bar code with blue and purple lines&#10;&#10;AI-generated content may be incorrect.">
            <a:extLst>
              <a:ext uri="{FF2B5EF4-FFF2-40B4-BE49-F238E27FC236}">
                <a16:creationId xmlns:a16="http://schemas.microsoft.com/office/drawing/2014/main" id="{339787EA-125E-9178-F9C6-78E077CFE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29" y="634182"/>
            <a:ext cx="5363069" cy="2573988"/>
          </a:xfrm>
          <a:prstGeom prst="rect">
            <a:avLst/>
          </a:prstGeom>
        </p:spPr>
      </p:pic>
      <p:pic>
        <p:nvPicPr>
          <p:cNvPr id="4" name="Picture 3" descr="A bar graph with orange and blue lines&#10;&#10;AI-generated content may be incorrect.">
            <a:extLst>
              <a:ext uri="{FF2B5EF4-FFF2-40B4-BE49-F238E27FC236}">
                <a16:creationId xmlns:a16="http://schemas.microsoft.com/office/drawing/2014/main" id="{CBB902A5-892D-F502-08A7-580B44DD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816" y="3906826"/>
            <a:ext cx="5363069" cy="257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02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E919A4-3121-4C34-7E3E-174733671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90" y="834861"/>
            <a:ext cx="2903219" cy="2417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1972C9-D7CC-B82F-EBD6-919D8F5A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470" y="834860"/>
            <a:ext cx="2901750" cy="24162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6403B8-FD9C-33FE-CCE0-0B0BD35AE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1" y="834860"/>
            <a:ext cx="2903220" cy="2417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B12F0-F936-64EB-6A19-D9257B0DA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" y="3605653"/>
            <a:ext cx="2948941" cy="241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3E363E-314E-CCF5-FDF2-4342EB826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0391" y="3605652"/>
            <a:ext cx="2948942" cy="2416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BF8A4-2BDB-BD33-579F-70FA9DC243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8390" y="3605652"/>
            <a:ext cx="2864314" cy="24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68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0415D-2C09-0137-EA23-0C8A96B0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56ADD-5D41-90C9-2637-8F77F6CD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SNR Evaluation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37FFD-A976-591C-629E-B3D856A3D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40" y="2254102"/>
            <a:ext cx="3726367" cy="365034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SNR drops from Dendrite → Soma → Axon </a:t>
            </a:r>
          </a:p>
          <a:p>
            <a:r>
              <a:rPr lang="en-IN" dirty="0">
                <a:solidFill>
                  <a:srgbClr val="FFFFFF"/>
                </a:solidFill>
              </a:rPr>
              <a:t>Significant drop occurs at Soma due to threshold conversion</a:t>
            </a:r>
          </a:p>
          <a:p>
            <a:r>
              <a:rPr lang="en-IN" dirty="0">
                <a:solidFill>
                  <a:srgbClr val="FFFFFF"/>
                </a:solidFill>
              </a:rPr>
              <a:t>Minimal loss across axon shows proper spike preservation</a:t>
            </a:r>
          </a:p>
          <a:p>
            <a:r>
              <a:rPr lang="en-IN" dirty="0">
                <a:solidFill>
                  <a:srgbClr val="FFFFFF"/>
                </a:solidFill>
              </a:rPr>
              <a:t>Confirms low noise distortion during propagation</a:t>
            </a: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D51F6B08-3A92-CFF1-9C69-EB5309809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71" y="3230880"/>
            <a:ext cx="4450516" cy="2661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1B50CC-2485-09C9-BEEC-8F9155CF7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744" y="1005840"/>
            <a:ext cx="438721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69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1AC73-FA28-2802-7E72-AB31DC87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EF2BD-3677-771B-A773-A487766E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89" y="918569"/>
            <a:ext cx="3726367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Pulse Width and Shape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3C97-F2B7-65EF-6C2A-77FB664CE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89" y="2006030"/>
            <a:ext cx="3710416" cy="365034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Final spike has a pulse width ≈ 4.07 </a:t>
            </a:r>
            <a:r>
              <a:rPr lang="en-IN" dirty="0" err="1">
                <a:solidFill>
                  <a:srgbClr val="FFFFFF"/>
                </a:solidFill>
              </a:rPr>
              <a:t>ms</a:t>
            </a:r>
            <a:endParaRPr lang="en-IN" dirty="0">
              <a:solidFill>
                <a:srgbClr val="FFFFFF"/>
              </a:solidFill>
            </a:endParaRPr>
          </a:p>
          <a:p>
            <a:pPr fontAlgn="ctr"/>
            <a:r>
              <a:rPr lang="en-IN" b="1" dirty="0"/>
              <a:t>Biological Range: </a:t>
            </a:r>
            <a:r>
              <a:rPr lang="en-IN" dirty="0"/>
              <a:t>2–5 </a:t>
            </a:r>
            <a:r>
              <a:rPr lang="en-IN" dirty="0" err="1"/>
              <a:t>ms</a:t>
            </a:r>
            <a:r>
              <a:rPr lang="en-IN" dirty="0"/>
              <a:t> (typical action potentials)</a:t>
            </a:r>
            <a:endParaRPr lang="en-IN" dirty="0">
              <a:solidFill>
                <a:srgbClr val="FFFFFF"/>
              </a:solidFill>
            </a:endParaRPr>
          </a:p>
          <a:p>
            <a:r>
              <a:rPr lang="en-IN" dirty="0">
                <a:solidFill>
                  <a:srgbClr val="FFFFFF"/>
                </a:solidFill>
              </a:rPr>
              <a:t>Amplitude and sharpness maintained through stages</a:t>
            </a:r>
          </a:p>
          <a:p>
            <a:r>
              <a:rPr lang="en-IN" dirty="0">
                <a:solidFill>
                  <a:srgbClr val="FFFFFF"/>
                </a:solidFill>
              </a:rPr>
              <a:t>No visible distortion or elongation at transmission end</a:t>
            </a:r>
          </a:p>
          <a:p>
            <a:r>
              <a:rPr lang="en-IN" dirty="0">
                <a:solidFill>
                  <a:srgbClr val="FFFFFF"/>
                </a:solidFill>
              </a:rPr>
              <a:t>Ensures biological realism in spike </a:t>
            </a:r>
            <a:r>
              <a:rPr lang="en-IN" dirty="0" err="1">
                <a:solidFill>
                  <a:srgbClr val="FFFFFF"/>
                </a:solidFill>
              </a:rPr>
              <a:t>behavior</a:t>
            </a:r>
            <a:endParaRPr lang="en-IN" dirty="0">
              <a:solidFill>
                <a:srgbClr val="FFFFFF"/>
              </a:solidFill>
            </a:endParaRPr>
          </a:p>
        </p:txBody>
      </p:sp>
      <p:pic>
        <p:nvPicPr>
          <p:cNvPr id="5" name="Picture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52CF1F12-0811-CF5A-CF8C-D01261839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25" y="2944678"/>
            <a:ext cx="4207476" cy="2239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49C3EC-84A1-544E-0548-6C0AE01C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222" y="1005840"/>
            <a:ext cx="1611796" cy="161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14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B9873-9ADE-8FFC-880C-67552B9C4409}"/>
              </a:ext>
            </a:extLst>
          </p:cNvPr>
          <p:cNvSpPr txBox="1"/>
          <p:nvPr/>
        </p:nvSpPr>
        <p:spPr>
          <a:xfrm>
            <a:off x="486164" y="769034"/>
            <a:ext cx="3726367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IN" sz="2800" dirty="0"/>
              <a:t>SIGNAL FIDELITY EVALUATION </a:t>
            </a:r>
            <a:endParaRPr lang="en-US" sz="28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BF17622-03AD-1C3F-6C5F-68392B70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14" y="1958332"/>
            <a:ext cx="4209043" cy="42481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1700" b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  RMSE / </a:t>
            </a:r>
            <a:r>
              <a:rPr kumimoji="0" lang="en-US" altLang="en-US" sz="1700" b="1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nRMSE</a:t>
            </a:r>
            <a:r>
              <a:rPr kumimoji="0" lang="en-US" altLang="en-US" sz="1700" b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(pp):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1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r>
              <a:rPr lang="en-US" altLang="en-US" sz="1700" dirty="0">
                <a:solidFill>
                  <a:srgbClr val="FFFFFF"/>
                </a:solidFill>
              </a:rPr>
              <a:t>- Calculated as the difference between input and output waveforms, </a:t>
            </a:r>
            <a:r>
              <a:rPr lang="en-US" altLang="en-US" sz="1700" dirty="0" err="1">
                <a:solidFill>
                  <a:srgbClr val="FFFFFF"/>
                </a:solidFill>
              </a:rPr>
              <a:t>normalised</a:t>
            </a:r>
            <a:r>
              <a:rPr lang="en-US" altLang="en-US" sz="1700" dirty="0">
                <a:solidFill>
                  <a:srgbClr val="FFFFFF"/>
                </a:solidFill>
              </a:rPr>
              <a:t> to peak - to - peak.</a:t>
            </a: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lang="en-US" altLang="en-US" sz="1700" dirty="0">
                <a:solidFill>
                  <a:srgbClr val="FFFFFF"/>
                </a:solidFill>
              </a:rPr>
              <a:t>- High</a:t>
            </a: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at Input → Dendrite (filter removes extra parts).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 Very small at Soma → Axon (≈0.1 V, 2.4%) → shape kept well.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1700" b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   Gain Error (dB):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1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r>
              <a:rPr lang="en-US" altLang="en-US" sz="1700" dirty="0">
                <a:solidFill>
                  <a:srgbClr val="FFFFFF"/>
                </a:solidFill>
              </a:rPr>
              <a:t>- Found by comparing output and input amplitudes in </a:t>
            </a:r>
            <a:r>
              <a:rPr lang="en-US" altLang="en-US" sz="1700" dirty="0" err="1">
                <a:solidFill>
                  <a:srgbClr val="FFFFFF"/>
                </a:solidFill>
              </a:rPr>
              <a:t>dB.</a:t>
            </a:r>
            <a:endParaRPr lang="en-US" altLang="en-US" sz="1700" dirty="0">
              <a:solidFill>
                <a:srgbClr val="FFFFFF"/>
              </a:solidFill>
            </a:endParaRP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 Dendrite → Soma: 7–8 dB (signal reshaped into spikes).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 Soma → Axon: ≈ 0 dB → almost no amplitude change.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1700" b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    Phase Lag (</a:t>
            </a:r>
            <a:r>
              <a:rPr kumimoji="0" lang="en-US" altLang="en-US" sz="1700" b="1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ms</a:t>
            </a:r>
            <a:r>
              <a:rPr kumimoji="0" lang="en-US" altLang="en-US" sz="1700" b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):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1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r>
              <a:rPr lang="en-US" altLang="en-US" sz="1700" dirty="0">
                <a:solidFill>
                  <a:srgbClr val="FFFFFF"/>
                </a:solidFill>
              </a:rPr>
              <a:t>- Measured as the time difference between input and output peaks.</a:t>
            </a:r>
          </a:p>
          <a:p>
            <a:pPr fontAlgn="base">
              <a:lnSpc>
                <a:spcPct val="90000"/>
              </a:lnSpc>
              <a:buClr>
                <a:schemeClr val="accent2"/>
              </a:buClr>
              <a:buSzPct val="92000"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 Input → Dendrite: 11–16 </a:t>
            </a:r>
            <a:r>
              <a:rPr kumimoji="0" lang="en-US" altLang="en-US" sz="1700" b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ms</a:t>
            </a: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delay (from RC filter).</a:t>
            </a: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endParaRPr kumimoji="0" lang="en-US" altLang="en-US" sz="1700" b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buClr>
                <a:schemeClr val="accent2"/>
              </a:buClr>
              <a:buSzPct val="92000"/>
              <a:tabLst/>
            </a:pP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 Soma → Axon: ≈0.07 </a:t>
            </a:r>
            <a:r>
              <a:rPr kumimoji="0" lang="en-US" altLang="en-US" sz="1700" b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ms</a:t>
            </a:r>
            <a:r>
              <a:rPr kumimoji="0" lang="en-US" altLang="en-US" sz="1700" b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→ almost no delay.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263DD5-EEBF-77FC-70D1-9F1BE17A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105" y="1844301"/>
            <a:ext cx="4355047" cy="34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44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7359-09CC-9074-8227-D8B978BE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6107-FCD6-3E9D-4788-5FEA0F8C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dirty="0"/>
              <a:t>SPIKE TIMING JITTER 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F721A5-F58E-DDBA-2330-E717510A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Jitter measures variation in spike timing between soma and axon.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Calculated using peak detection and time difference of aligned spikes.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Average jitter ≈ </a:t>
            </a:r>
            <a:r>
              <a:rPr lang="en-US" altLang="en-US" b="1" dirty="0">
                <a:solidFill>
                  <a:schemeClr val="tx1"/>
                </a:solidFill>
              </a:rPr>
              <a:t>0.94 </a:t>
            </a:r>
            <a:r>
              <a:rPr lang="en-US" altLang="en-US" b="1" dirty="0" err="1">
                <a:solidFill>
                  <a:schemeClr val="tx1"/>
                </a:solidFill>
              </a:rPr>
              <a:t>ms</a:t>
            </a:r>
            <a:r>
              <a:rPr lang="en-US" altLang="en-US" dirty="0" err="1">
                <a:solidFill>
                  <a:schemeClr val="tx1"/>
                </a:solidFill>
              </a:rPr>
              <a:t>.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Value lies within biological range (1–2 </a:t>
            </a:r>
            <a:r>
              <a:rPr lang="en-US" altLang="en-US" dirty="0" err="1">
                <a:solidFill>
                  <a:schemeClr val="tx1"/>
                </a:solidFill>
              </a:rPr>
              <a:t>ms</a:t>
            </a:r>
            <a:r>
              <a:rPr lang="en-US" altLang="en-US" dirty="0">
                <a:solidFill>
                  <a:schemeClr val="tx1"/>
                </a:solidFill>
              </a:rPr>
              <a:t>).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Confirms consistent spike transmission with minimal distortion.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54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Final Model 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040" y="1730968"/>
            <a:ext cx="4240218" cy="38247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Inputs: EEG, HH spike, PQRST, Sinewave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Dendrites: RC filters preserve key frequencies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Soma: Comparator triggers clean spikes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Axon: 9-stage RC line + amplifiers (every 3 blocks)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Quantitative measurements comparison with biology.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solidFill>
                  <a:srgbClr val="FFFFFF"/>
                </a:solidFill>
              </a:rPr>
              <a:t>Complete </a:t>
            </a:r>
            <a:r>
              <a:rPr lang="en-IN" sz="1500" dirty="0" err="1">
                <a:solidFill>
                  <a:srgbClr val="FFFFFF"/>
                </a:solidFill>
              </a:rPr>
              <a:t>analog</a:t>
            </a:r>
            <a:r>
              <a:rPr lang="en-IN" sz="1500" dirty="0">
                <a:solidFill>
                  <a:srgbClr val="FFFFFF"/>
                </a:solidFill>
              </a:rPr>
              <a:t> model with realistic signal transmission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DA615-76AB-2DF5-2A78-3AA167502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030495"/>
              </p:ext>
            </p:extLst>
          </p:nvPr>
        </p:nvGraphicFramePr>
        <p:xfrm>
          <a:off x="4604744" y="1730968"/>
          <a:ext cx="4446326" cy="437927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214942">
                  <a:extLst>
                    <a:ext uri="{9D8B030D-6E8A-4147-A177-3AD203B41FA5}">
                      <a16:colId xmlns:a16="http://schemas.microsoft.com/office/drawing/2014/main" val="4147655867"/>
                    </a:ext>
                  </a:extLst>
                </a:gridCol>
                <a:gridCol w="1871529">
                  <a:extLst>
                    <a:ext uri="{9D8B030D-6E8A-4147-A177-3AD203B41FA5}">
                      <a16:colId xmlns:a16="http://schemas.microsoft.com/office/drawing/2014/main" val="3233377772"/>
                    </a:ext>
                  </a:extLst>
                </a:gridCol>
                <a:gridCol w="1359855">
                  <a:extLst>
                    <a:ext uri="{9D8B030D-6E8A-4147-A177-3AD203B41FA5}">
                      <a16:colId xmlns:a16="http://schemas.microsoft.com/office/drawing/2014/main" val="1393744609"/>
                    </a:ext>
                  </a:extLst>
                </a:gridCol>
              </a:tblGrid>
              <a:tr h="465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Metric</a:t>
                      </a:r>
                      <a:endParaRPr lang="en-IN" sz="120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Result (This Work)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Biological Range / Context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21864990"/>
                  </a:ext>
                </a:extLst>
              </a:tr>
              <a:tr h="465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Spike Width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4.07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2–5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r>
                        <a:rPr lang="en-IN" sz="1200" dirty="0">
                          <a:latin typeface="+mn-lt"/>
                        </a:rPr>
                        <a:t> (typical action potentials)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1320090097"/>
                  </a:ext>
                </a:extLst>
              </a:tr>
              <a:tr h="465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Spike Jitter</a:t>
                      </a:r>
                      <a:endParaRPr lang="en-IN" sz="120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≈ 0.94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1–2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r>
                        <a:rPr lang="en-IN" sz="1200" dirty="0">
                          <a:latin typeface="+mn-lt"/>
                        </a:rPr>
                        <a:t> (cortical neurons)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516121987"/>
                  </a:ext>
                </a:extLst>
              </a:tr>
              <a:tr h="651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SNR Change</a:t>
                      </a:r>
                      <a:endParaRPr lang="en-IN" sz="120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dirty="0">
                          <a:latin typeface="+mn-lt"/>
                        </a:rPr>
                        <a:t>Δ ≈ +</a:t>
                      </a:r>
                      <a:r>
                        <a:rPr lang="en-US" sz="1200" dirty="0">
                          <a:latin typeface="+mn-lt"/>
                        </a:rPr>
                        <a:t>0.35</a:t>
                      </a:r>
                      <a:r>
                        <a:rPr lang="el-GR" sz="1200" dirty="0">
                          <a:latin typeface="+mn-lt"/>
                        </a:rPr>
                        <a:t> </a:t>
                      </a:r>
                      <a:r>
                        <a:rPr lang="en-IN" sz="1200" dirty="0">
                          <a:latin typeface="+mn-lt"/>
                        </a:rPr>
                        <a:t>dB (soma → axon)</a:t>
                      </a: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SNR preserved during axonal conduction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1505690298"/>
                  </a:ext>
                </a:extLst>
              </a:tr>
              <a:tr h="465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RMSE / </a:t>
                      </a:r>
                      <a:r>
                        <a:rPr lang="en-IN" sz="1200" b="1" dirty="0" err="1">
                          <a:latin typeface="+mn-lt"/>
                        </a:rPr>
                        <a:t>nRMSE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0.1 V / 2.4% (soma → axon)</a:t>
                      </a: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Minimal distortion expected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4009214394"/>
                  </a:ext>
                </a:extLst>
              </a:tr>
              <a:tr h="83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+mn-lt"/>
                        </a:rPr>
                        <a:t>Gain Error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7–8 dB (dendrite → soma) ≈ 0 dB (soma → axon)</a:t>
                      </a: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Amplitude reshaping at soma; preserved in axon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1248272288"/>
                  </a:ext>
                </a:extLst>
              </a:tr>
              <a:tr h="102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+mn-lt"/>
                        </a:rPr>
                        <a:t>Phase Lag</a:t>
                      </a:r>
                      <a:endParaRPr lang="en-IN" sz="1200">
                        <a:latin typeface="+mn-lt"/>
                      </a:endParaRP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11–16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r>
                        <a:rPr lang="en-IN" sz="1200" dirty="0">
                          <a:latin typeface="+mn-lt"/>
                        </a:rPr>
                        <a:t> (dendrite filter) ≈ 0.07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r>
                        <a:rPr lang="en-IN" sz="1200" dirty="0">
                          <a:latin typeface="+mn-lt"/>
                        </a:rPr>
                        <a:t> (axon)</a:t>
                      </a:r>
                    </a:p>
                  </a:txBody>
                  <a:tcPr marL="57697" marR="57697" marT="28848" marB="28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Dendrites introduce </a:t>
                      </a:r>
                      <a:r>
                        <a:rPr lang="en-IN" sz="1200" dirty="0" err="1">
                          <a:latin typeface="+mn-lt"/>
                        </a:rPr>
                        <a:t>ms</a:t>
                      </a:r>
                      <a:r>
                        <a:rPr lang="en-IN" sz="1200" dirty="0">
                          <a:latin typeface="+mn-lt"/>
                        </a:rPr>
                        <a:t> delays; axons transmit with high precision</a:t>
                      </a:r>
                    </a:p>
                  </a:txBody>
                  <a:tcPr marL="57697" marR="57697" marT="28848" marB="28848" anchor="ctr"/>
                </a:tc>
                <a:extLst>
                  <a:ext uri="{0D108BD9-81ED-4DB2-BD59-A6C34878D82A}">
                    <a16:rowId xmlns:a16="http://schemas.microsoft.com/office/drawing/2014/main" val="1076075494"/>
                  </a:ext>
                </a:extLst>
              </a:tr>
            </a:tbl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18AC-AAA9-0617-C2D7-9C4D35DA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97A9-D8B3-0404-33DE-607459B6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>
                <a:solidFill>
                  <a:srgbClr val="FFFFFF"/>
                </a:solidFill>
              </a:rPr>
              <a:t>LimitationS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0D408B-08B1-0DC5-6023-48C1E8EA3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54" y="2247392"/>
            <a:ext cx="8122890" cy="4956048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IN" dirty="0"/>
              <a:t>Built using only ideal circuit elements in simulation → cannot capture real-world noise, thermal drift, or hardware non-linearities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dirty="0"/>
              <a:t>Dendritic and axonal pathways modelled as simplified linear cascades → loses spatial complexity of real neurons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dirty="0"/>
              <a:t>Fixed parameter values (thresholds, time constants, pulse widths) → no plasticity or adaptive behaviours represented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dirty="0"/>
              <a:t>Simulation assumes perfect components and interconnections → ignores impedance mismatches and environmental interference</a:t>
            </a: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62ADA-6EFA-18C9-D955-FD59D30C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8B0E-6F96-B239-90B1-33121026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dirty="0"/>
              <a:t>Future Improvements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D882F0-3A44-BB1D-CFEC-11749FC48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4" y="2054352"/>
            <a:ext cx="8122890" cy="4956048"/>
          </a:xfrm>
        </p:spPr>
        <p:txBody>
          <a:bodyPr>
            <a:normAutofit lnSpcReduction="1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Adaptive Thresholding:</a:t>
            </a:r>
            <a:r>
              <a:rPr lang="en-IN" dirty="0"/>
              <a:t> Feedback-based comparators to model neuronal adaptation/fatigue</a:t>
            </a:r>
          </a:p>
          <a:p>
            <a:pPr marL="0" indent="0">
              <a:buNone/>
            </a:pPr>
            <a:endParaRPr lang="en-IN" sz="1200" dirty="0"/>
          </a:p>
          <a:p>
            <a:r>
              <a:rPr lang="en-IN" b="1" dirty="0"/>
              <a:t>Pulse Width &amp; Shape Control:</a:t>
            </a:r>
            <a:r>
              <a:rPr lang="en-IN" dirty="0"/>
              <a:t> Monostable circuits to vary spike duration and shape</a:t>
            </a:r>
          </a:p>
          <a:p>
            <a:pPr marL="0" indent="0">
              <a:buNone/>
            </a:pPr>
            <a:endParaRPr lang="en-IN" sz="1200" dirty="0"/>
          </a:p>
          <a:p>
            <a:r>
              <a:rPr lang="en-IN" b="1" dirty="0"/>
              <a:t>Multi-Input Dendritic Integration:</a:t>
            </a:r>
            <a:r>
              <a:rPr lang="en-IN" dirty="0"/>
              <a:t> Combine multiple weighted inputs → excitatory &amp; inhibitory modelling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b="1" dirty="0"/>
              <a:t>Tuneable Propagation:</a:t>
            </a:r>
            <a:r>
              <a:rPr lang="en-IN" dirty="0"/>
              <a:t> Adjustable gain/delay to explore axonal conduction velocity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b="1" dirty="0"/>
              <a:t>Improved Robustness:</a:t>
            </a:r>
            <a:r>
              <a:rPr lang="en-IN" dirty="0"/>
              <a:t> Better component selection, shielding, minimising noise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1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8A04-6921-8FF1-1052-2D3A1FC1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A851-E8F7-7593-4276-8AD4E84C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A78A2A-7690-F36F-E619-41E7C8E9F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134" y="2664021"/>
            <a:ext cx="8122890" cy="4956048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IN" b="1" dirty="0"/>
              <a:t>Short-Term (Educational &amp; Research):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Demonstrations of dendrite–soma–axon processing in labs</a:t>
            </a:r>
          </a:p>
          <a:p>
            <a:pPr marL="0" indent="0">
              <a:buNone/>
            </a:pPr>
            <a:r>
              <a:rPr lang="en-IN" dirty="0"/>
              <a:t>      Transparent testbed for neuromorphic circuit design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b="1" dirty="0"/>
              <a:t>Medium-Term (Engineering &amp; Neuromorphic):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Low-power </a:t>
            </a:r>
            <a:r>
              <a:rPr lang="en-IN" dirty="0" err="1"/>
              <a:t>analog</a:t>
            </a:r>
            <a:r>
              <a:rPr lang="en-IN" dirty="0"/>
              <a:t> front-end for wearable/embedded </a:t>
            </a:r>
            <a:r>
              <a:rPr lang="en-IN" dirty="0" err="1"/>
              <a:t>biosignal</a:t>
            </a:r>
            <a:r>
              <a:rPr lang="en-IN" dirty="0"/>
              <a:t> processing</a:t>
            </a:r>
          </a:p>
          <a:p>
            <a:pPr marL="0" indent="0">
              <a:buNone/>
            </a:pPr>
            <a:r>
              <a:rPr lang="en-IN" dirty="0"/>
              <a:t>     Benchmark platform for hybrid </a:t>
            </a:r>
            <a:r>
              <a:rPr lang="en-IN" dirty="0" err="1"/>
              <a:t>analog</a:t>
            </a:r>
            <a:r>
              <a:rPr lang="en-IN" dirty="0"/>
              <a:t>–digital neuromorphic systems</a:t>
            </a:r>
          </a:p>
          <a:p>
            <a:pPr marL="0" indent="0">
              <a:buNone/>
            </a:pPr>
            <a:endParaRPr lang="en-IN" sz="1100" dirty="0"/>
          </a:p>
          <a:p>
            <a:r>
              <a:rPr lang="en-IN" b="1" dirty="0"/>
              <a:t>Long-Term (Biomedical):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Prosthetic spike encoders for EEG/ECG abnormality modelling</a:t>
            </a:r>
          </a:p>
          <a:p>
            <a:pPr marL="0" indent="0">
              <a:buNone/>
            </a:pPr>
            <a:r>
              <a:rPr lang="en-IN" dirty="0"/>
              <a:t>     Potential adaptation for </a:t>
            </a:r>
            <a:r>
              <a:rPr lang="en-IN" dirty="0" err="1"/>
              <a:t>neuroprosthetics</a:t>
            </a:r>
            <a:r>
              <a:rPr lang="en-IN" dirty="0"/>
              <a:t> and implantable devices</a:t>
            </a:r>
          </a:p>
          <a:p>
            <a:pPr marL="0" indent="0">
              <a:buNone/>
            </a:pPr>
            <a:endParaRPr lang="en-IN" dirty="0"/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70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80B2C-1AD7-0A6B-3EF4-E73895FE8FF2}"/>
              </a:ext>
            </a:extLst>
          </p:cNvPr>
          <p:cNvSpPr txBox="1"/>
          <p:nvPr/>
        </p:nvSpPr>
        <p:spPr>
          <a:xfrm>
            <a:off x="3516454" y="2844225"/>
            <a:ext cx="2111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Thank You!!</a:t>
            </a:r>
          </a:p>
          <a:p>
            <a:endParaRPr lang="en-US" sz="3200" dirty="0"/>
          </a:p>
          <a:p>
            <a:r>
              <a:rPr lang="en-US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543824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18249</TotalTime>
  <Words>1251</Words>
  <Application>Microsoft Macintosh PowerPoint</Application>
  <PresentationFormat>On-screen Show (4:3)</PresentationFormat>
  <Paragraphs>205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Gill Sans MT</vt:lpstr>
      <vt:lpstr>Wingdings 2</vt:lpstr>
      <vt:lpstr>Dividend</vt:lpstr>
      <vt:lpstr>Transmission Line Circuit for Simplified Hodgkin-Huxley Neuron Model</vt:lpstr>
      <vt:lpstr>MOTIVATION</vt:lpstr>
      <vt:lpstr>Aim and Objectives</vt:lpstr>
      <vt:lpstr>Tools and Simulation Setup</vt:lpstr>
      <vt:lpstr>BLOCK DIAGRAM</vt:lpstr>
      <vt:lpstr>PowerPoint Presentation</vt:lpstr>
      <vt:lpstr>INPUT SIGNAL DESIGNS</vt:lpstr>
      <vt:lpstr>PowerPoint Presentation</vt:lpstr>
      <vt:lpstr>Dendritic Filtering</vt:lpstr>
      <vt:lpstr>PowerPoint Presentation</vt:lpstr>
      <vt:lpstr>PowerPoint Presentation</vt:lpstr>
      <vt:lpstr>PowerPoint Presentation</vt:lpstr>
      <vt:lpstr>Soma Spike Generation</vt:lpstr>
      <vt:lpstr>PowerPoint Presentation</vt:lpstr>
      <vt:lpstr>Axonal Transmission Line</vt:lpstr>
      <vt:lpstr>PowerPoint Presentation</vt:lpstr>
      <vt:lpstr>PowerPoint Presentation</vt:lpstr>
      <vt:lpstr>PowerPoint Presentation</vt:lpstr>
      <vt:lpstr>SNR Evaluation</vt:lpstr>
      <vt:lpstr>Pulse Width and Shape</vt:lpstr>
      <vt:lpstr>PowerPoint Presentation</vt:lpstr>
      <vt:lpstr>SPIKE TIMING JITTER </vt:lpstr>
      <vt:lpstr>Final Model Summary</vt:lpstr>
      <vt:lpstr>LimitationS</vt:lpstr>
      <vt:lpstr>Future Improvements</vt:lpstr>
      <vt:lpstr>APPLICATIONS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Kruthika Yogeesh Gowda (kyg1n24)</cp:lastModifiedBy>
  <cp:revision>18</cp:revision>
  <cp:lastPrinted>2025-08-31T12:00:14Z</cp:lastPrinted>
  <dcterms:created xsi:type="dcterms:W3CDTF">2013-01-27T09:14:16Z</dcterms:created>
  <dcterms:modified xsi:type="dcterms:W3CDTF">2025-09-24T13:52:18Z</dcterms:modified>
  <cp:category/>
</cp:coreProperties>
</file>